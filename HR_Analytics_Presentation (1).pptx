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Avg. Base Salary by Department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Base Salary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Engineering</c:v>
                  </c:pt>
                  <c:pt idx="1">
                    <c:v>Support</c:v>
                  </c:pt>
                  <c:pt idx="2">
                    <c:v>Sales</c:v>
                  </c:pt>
                  <c:pt idx="3">
                    <c:v>Finance</c:v>
                  </c:pt>
                  <c:pt idx="4">
                    <c:v>Marketing</c:v>
                  </c:pt>
                  <c:pt idx="5">
                    <c:v>HR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85026</c:v>
                </c:pt>
                <c:pt idx="1">
                  <c:v>86201</c:v>
                </c:pt>
                <c:pt idx="2">
                  <c:v>88442</c:v>
                </c:pt>
                <c:pt idx="3">
                  <c:v>88397</c:v>
                </c:pt>
                <c:pt idx="4">
                  <c:v>90508</c:v>
                </c:pt>
                <c:pt idx="5">
                  <c:v>98649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Avg. Base Salary by Role Level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Base Salary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Junior</c:v>
                  </c:pt>
                  <c:pt idx="1">
                    <c:v>Mid-Level</c:v>
                  </c:pt>
                  <c:pt idx="2">
                    <c:v>Senior</c:v>
                  </c:pt>
                  <c:pt idx="3">
                    <c:v>Lead</c:v>
                  </c:pt>
                  <c:pt idx="4">
                    <c:v>Manager</c:v>
                  </c:pt>
                  <c:pt idx="5">
                    <c:v>Director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49937</c:v>
                </c:pt>
                <c:pt idx="1">
                  <c:v>79736</c:v>
                </c:pt>
                <c:pt idx="2">
                  <c:v>109633</c:v>
                </c:pt>
                <c:pt idx="3">
                  <c:v>129934</c:v>
                </c:pt>
                <c:pt idx="4">
                  <c:v>149997</c:v>
                </c:pt>
                <c:pt idx="5">
                  <c:v>200114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Q3 Revenue</c:v>
                </c:pt>
              </c:strCache>
            </c:strRef>
          </c:tx>
          <c:spPr>
            <a:solidFill>
              <a:srgbClr val="5B6B85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B13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Control (n=200)</c:v>
                  </c:pt>
                  <c:pt idx="1">
                    <c:v>Training (n=200)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97902</c:v>
                </c:pt>
                <c:pt idx="1">
                  <c:v>109929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probability of leaving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5</c:v>
                  </c:pt>
                  <c:pt idx="4">
                    <c:v>Year 10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0.234</c:v>
                </c:pt>
                <c:pt idx="1">
                  <c:v>0.413</c:v>
                </c:pt>
                <c:pt idx="2">
                  <c:v>0.55</c:v>
                </c:pt>
                <c:pt idx="3">
                  <c:v>0.736</c:v>
                </c:pt>
                <c:pt idx="4">
                  <c:v>0.93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Reason for Leaving (500 exits)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exits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Career Change</c:v>
                  </c:pt>
                  <c:pt idx="1">
                    <c:v>Better Offer</c:v>
                  </c:pt>
                  <c:pt idx="2">
                    <c:v>Commute</c:v>
                  </c:pt>
                  <c:pt idx="3">
                    <c:v>Management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0.274</c:v>
                </c:pt>
                <c:pt idx="1">
                  <c:v>0.246</c:v>
                </c:pt>
                <c:pt idx="2">
                  <c:v>0.248</c:v>
                </c:pt>
                <c:pt idx="3">
                  <c:v>0.232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754880" cy="47548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3108960" cy="310896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-146304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  ·  CONFIDENTIAL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Analytics: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Salary, Training &amp; Turnover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2,000 employee records tell us about pay equity, training ROI, and why people leave.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1005840" cy="0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Leadership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Employee_Directory · Compensation_Demographics · Messy_Performance_Data · Training_AB_Test · Attrition_Distributions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Mandate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94960" y="176479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leadership asked for this analysis, and the data behind 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791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6609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Equity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94960" y="266090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paid what — and whether pay gaps are real or noise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7530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75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5570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ROI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94960" y="355701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$50K Q3 sales training pay for itself?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325112"/>
            <a:ext cx="11064240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47141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71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453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Turnover Risk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394960" y="44531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employees leave, and whether it's predictable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21224"/>
            <a:ext cx="11064240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36752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67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349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394960" y="53492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|  People Analytics Specialist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workforce, five data 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asked three questions: is pay fair, is the new training worth it, and why are we losing people? We answered each using the full 2,000-employee dataset — not samples.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121408" cy="3017520"/>
          </a:xfrm>
          <a:prstGeom prst="roundRect">
            <a:avLst>
              <a:gd name="adj" fmla="val 344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532888"/>
            <a:ext cx="1792224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5328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 employees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20040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Employee_Directory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40233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role level, hire date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98064" y="2331720"/>
            <a:ext cx="2121408" cy="3017520"/>
          </a:xfrm>
          <a:prstGeom prst="roundRect">
            <a:avLst>
              <a:gd name="adj" fmla="val 344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62656" y="2532888"/>
            <a:ext cx="1792224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962656" y="25328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 records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62656" y="320040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Compensation_Demographics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62656" y="40233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Salary, bonus, age, gender, satisfaction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47488" y="2331720"/>
            <a:ext cx="2121408" cy="3017520"/>
          </a:xfrm>
          <a:prstGeom prst="roundRect">
            <a:avLst>
              <a:gd name="adj" fmla="val 344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2532888"/>
            <a:ext cx="1792224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5328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→ 352 clean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20040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Messy_Performance_Data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0" y="40233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via Power Query (Trim + Proper Case + filter)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96912" y="2331720"/>
            <a:ext cx="2121408" cy="3017520"/>
          </a:xfrm>
          <a:prstGeom prst="roundRect">
            <a:avLst>
              <a:gd name="adj" fmla="val 344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61504" y="2532888"/>
            <a:ext cx="1792224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461504" y="25328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records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61504" y="320040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Training_AB_Test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61504" y="40233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Control vs. 200 Training, Q3 revenue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46336" y="2331720"/>
            <a:ext cx="2121408" cy="3017520"/>
          </a:xfrm>
          <a:prstGeom prst="roundRect">
            <a:avLst>
              <a:gd name="adj" fmla="val 344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10928" y="2532888"/>
            <a:ext cx="1792224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710928" y="253288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exits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10928" y="320040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Attrition_Distributions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10928" y="4023360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reason for leaving, rehire eligibility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XLOOKUP/INDEX-MATCH data merging · Power Query cleaning · Pivot tables · Descriptive statistics · Two-sample t-tests · ANOVA · Chi-square · Exponential &amp; binomial probability models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|  People Analytics Specialist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workforce, in six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679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Headcount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departments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0248" y="17830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41B47"/>
          </a:solidFill>
          <a:ln/>
        </p:spPr>
      </p:sp>
      <p:sp>
        <p:nvSpPr>
          <p:cNvPr id="9" name="Text 7"/>
          <p:cNvSpPr/>
          <p:nvPr/>
        </p:nvSpPr>
        <p:spPr>
          <a:xfrm>
            <a:off x="4498848" y="1965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$88,018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98848" y="2679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Base Salary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8848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mean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91856" y="178308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41B4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456" y="1965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327 (16.4%)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0456" y="2679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Earners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0456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above $120,000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2219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41B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050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 / 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77240" y="471830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Job Satisfaction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0566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departments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0248" y="382219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41B47"/>
          </a:solidFill>
          <a:ln/>
        </p:spPr>
      </p:sp>
      <p:sp>
        <p:nvSpPr>
          <p:cNvPr id="21" name="Text 19"/>
          <p:cNvSpPr/>
          <p:nvPr/>
        </p:nvSpPr>
        <p:spPr>
          <a:xfrm>
            <a:off x="4498848" y="40050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41.3%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498848" y="471830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Attrition Risk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98848" y="50566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 hire exits by year 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91856" y="382219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41B4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0456" y="40050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47x ROI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220456" y="471830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Payback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0456" y="50566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spend → $2.4M+ revenue lift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|  People Analytics Specialist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EQUITY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Role, not department, drives pay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50876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02920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EF3FD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502920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salary scales cleanly with seniority — a ~4x spread from Junior ($49,937) to Director ($200,114). Department only explains a ~$13,600 spread (HR highest, Engineering lowest), so seniority mix, not department bias, is the main pay driver.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|  People Analytics Specialist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EQUITY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a gender pay gap?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Two-Sample t-Test — Male vs. Female Base Salary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583680" cy="77724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(n = 989)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(n = 933)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Salary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$87,271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$89,290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Statistic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76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−1.242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(two-tail)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5760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threshold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45720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mean salary (Male) = mean salary (Female).  Since p = 0.214 &gt; 0.05, we fail to reject H₀.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543800" y="1554480"/>
            <a:ext cx="4114800" cy="4343400"/>
          </a:xfrm>
          <a:prstGeom prst="roundRect">
            <a:avLst>
              <a:gd name="adj" fmla="val 2222"/>
            </a:avLst>
          </a:prstGeom>
          <a:solidFill>
            <a:srgbClr val="E6F2E7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235440" y="187452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923544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818120" y="2788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STATISTICALLY</a:t>
            </a:r>
            <a:endParaRPr lang="en-US" sz="2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SIGNIFICANT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818120" y="3657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of a systemic gender pay gap at the aggregate level. Women in this dataset earn slightly more on average — the $2,019 difference is well within statistical noise.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18120" y="5029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continued monitoring — aggregate parity doesn't rule out gaps within a specific role or department.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|  People Analytics Specialist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Q3 sales training work?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 — Q3 Sales Revenue, Control vs. Training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6309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1920240"/>
            <a:ext cx="461772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2057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+$12,027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0" y="2743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Q3 revenue lift per trained employee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3474720"/>
            <a:ext cx="4617720" cy="1371600"/>
          </a:xfrm>
          <a:prstGeom prst="roundRect">
            <a:avLst>
              <a:gd name="adj" fmla="val 6000"/>
            </a:avLst>
          </a:prstGeom>
          <a:solidFill>
            <a:srgbClr val="E6F2E7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3611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0.0001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315200" y="4206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(t = 5.62, df ≈ 395). Well below the α = 0.05 threshold.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mean revenue (Control) = mean revenue (Training). Rejected — the training group's revenue lift is real, not chance.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|  People Analytics Specialist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it worth the investment?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investment in Q3 sales training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70248" y="18745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41B47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2194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200 employees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98848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Cohort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8848" y="3383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$12,027 average lift per person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08976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91856" y="18745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41B4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456" y="21945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$2,405,471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0456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Revenue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0456" y="3383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Q3 revenue gain vs. the control group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2B13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9087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47x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3291840" y="4800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523036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 spent on the training returned about $47 in incremental Q3 sales revenue. Recommendation: expand the program company-wide.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|  People Analytics Specialist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 employees leave?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from 500 exits as an exponential distribution (mean tenure at exit = 3.75 years, λ = 0.267).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66751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96596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FBEAE9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26680" y="22860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NUMBER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26680" y="25603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41.3%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7726680" y="35661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 new hire leaves within their first 2 years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26680" y="4434840"/>
            <a:ext cx="3429000" cy="0"/>
          </a:xfrm>
          <a:prstGeom prst="line">
            <a:avLst/>
          </a:prstGeom>
          <a:noFill/>
          <a:ln w="12700">
            <a:solidFill>
              <a:srgbClr val="E7C6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6680" y="457200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year 5, that climbs to 73.6% — exponential models assume a constant hazard rate, so early tenure carries the same relative risk as any other stage. Practically: the first 24 months is where retention investment matters most.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|  People Analytics Specialist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people leave — and what doesn't predict it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8521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600200"/>
            <a:ext cx="5120640" cy="1600200"/>
          </a:xfrm>
          <a:prstGeom prst="roundRect">
            <a:avLst>
              <a:gd name="adj" fmla="val 5143"/>
            </a:avLst>
          </a:prstGeom>
          <a:solidFill>
            <a:srgbClr val="EEF3FD"/>
          </a:solidFill>
          <a:ln/>
        </p:spPr>
      </p:sp>
      <p:sp>
        <p:nvSpPr>
          <p:cNvPr id="6" name="Text 3"/>
          <p:cNvSpPr/>
          <p:nvPr/>
        </p:nvSpPr>
        <p:spPr>
          <a:xfrm>
            <a:off x="681228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1228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leaving vs. rehire eligibility — p = 0.296 (not significant)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12280" y="24231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are handled consistently: why someone left does not predict whether they're rehire-eligible.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0" y="3383280"/>
            <a:ext cx="5120640" cy="1645920"/>
          </a:xfrm>
          <a:prstGeom prst="roundRect">
            <a:avLst>
              <a:gd name="adj" fmla="val 5000"/>
            </a:avLst>
          </a:prstGeom>
          <a:solidFill>
            <a:srgbClr val="EEF3FD"/>
          </a:solidFill>
          <a:ln/>
        </p:spPr>
      </p:sp>
      <p:sp>
        <p:nvSpPr>
          <p:cNvPr id="10" name="Text 7"/>
          <p:cNvSpPr/>
          <p:nvPr/>
        </p:nvSpPr>
        <p:spPr>
          <a:xfrm>
            <a:off x="6812280" y="3520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1228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across departments — p = 0.35 (not significant)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12280" y="4206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(avg. 3.0/5) is uniform company-wide — dissatisfaction isn't concentrated on one team.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525780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5257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risk is broad-based, not localized to a department, manager, or exit reason. Retention strategy should target the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stage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(first 24 months), not a specific team.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|  People Analytics Specialist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293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the training program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47x ROI on a $50K pilot is a rare result — expand Q3-style sales training to the full sales org and track revenue lift per cohort.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199632" y="1691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EF3FD"/>
          </a:solidFill>
          <a:ln/>
        </p:spPr>
      </p:sp>
      <p:sp>
        <p:nvSpPr>
          <p:cNvPr id="10" name="Shape 8"/>
          <p:cNvSpPr/>
          <p:nvPr/>
        </p:nvSpPr>
        <p:spPr>
          <a:xfrm>
            <a:off x="6455664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55664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14032" y="19293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Front-load retention investment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55664" y="25603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41.3% of exits happening in the first 2 years, focus onboarding, mentorship, and check-ins on that window rather than spreading effort evenly across tenure.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EF3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965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 the gender pay test annually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72744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gap today (p = 0.214), but re-test at least yearly and slice by role level as headcount grows — aggregate parity can mask role-level gaps.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199632" y="3858768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EEF3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55664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55664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14032" y="40965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exits qualitatively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55664" y="472744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Reason-for-leaving doesn't vary by department or predict rehire status — exit interviews may surface drivers the structured data can't (e.g. compensation timing, workload).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|  People Analytics Specialist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— live formulas, pivot tables, and every statistical test — is in the companion workbook: HR_Analytics_Solved.xlsx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1005840" cy="0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 Specialist  ·  HR Analytics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2026-07-19T09:04:09Z</dcterms:created>
  <dcterms:modified xsi:type="dcterms:W3CDTF">2026-07-19T09:04:09Z</dcterms:modified>
</cp:coreProperties>
</file>